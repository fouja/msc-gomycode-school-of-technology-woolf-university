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</p:sldIdLst>
  <p:sldSz cy="6858000" cx="12192000"/>
  <p:notesSz cx="6858000" cy="9144000"/>
  <p:embeddedFontLst>
    <p:embeddedFont>
      <p:font typeface="Plus Jakarta Sans"/>
      <p:regular r:id="rId12"/>
      <p:bold r:id="rId13"/>
      <p:italic r:id="rId14"/>
      <p:boldItalic r:id="rId15"/>
    </p:embeddedFont>
    <p:embeddedFont>
      <p:font typeface="Inter"/>
      <p:regular r:id="rId16"/>
      <p:bold r:id="rId17"/>
      <p:italic r:id="rId18"/>
      <p:boldItalic r:id="rId1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font" Target="fonts/PlusJakartaSans-bold.fntdata"/><Relationship Id="rId12" Type="http://schemas.openxmlformats.org/officeDocument/2006/relationships/font" Target="fonts/PlusJakartaSans-regular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PlusJakartaSans-boldItalic.fntdata"/><Relationship Id="rId14" Type="http://schemas.openxmlformats.org/officeDocument/2006/relationships/font" Target="fonts/PlusJakartaSans-italic.fntdata"/><Relationship Id="rId17" Type="http://schemas.openxmlformats.org/officeDocument/2006/relationships/font" Target="fonts/Inter-bold.fntdata"/><Relationship Id="rId16" Type="http://schemas.openxmlformats.org/officeDocument/2006/relationships/font" Target="fonts/Inter-regular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Inter-boldItalic.fntdata"/><Relationship Id="rId6" Type="http://schemas.openxmlformats.org/officeDocument/2006/relationships/slide" Target="slides/slide1.xml"/><Relationship Id="rId18" Type="http://schemas.openxmlformats.org/officeDocument/2006/relationships/font" Target="fonts/Inter-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7.png"/><Relationship Id="rId4" Type="http://schemas.openxmlformats.org/officeDocument/2006/relationships/image" Target="../media/image3.png"/><Relationship Id="rId9" Type="http://schemas.openxmlformats.org/officeDocument/2006/relationships/image" Target="../media/image7.png"/><Relationship Id="rId5" Type="http://schemas.openxmlformats.org/officeDocument/2006/relationships/image" Target="../media/image2.png"/><Relationship Id="rId6" Type="http://schemas.openxmlformats.org/officeDocument/2006/relationships/image" Target="../media/image15.png"/><Relationship Id="rId7" Type="http://schemas.openxmlformats.org/officeDocument/2006/relationships/image" Target="../media/image14.png"/><Relationship Id="rId8" Type="http://schemas.openxmlformats.org/officeDocument/2006/relationships/image" Target="../media/image10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Relationship Id="rId4" Type="http://schemas.openxmlformats.org/officeDocument/2006/relationships/image" Target="../media/image16.png"/><Relationship Id="rId5" Type="http://schemas.openxmlformats.org/officeDocument/2006/relationships/image" Target="../media/image9.png"/><Relationship Id="rId6" Type="http://schemas.openxmlformats.org/officeDocument/2006/relationships/image" Target="../media/image13.png"/><Relationship Id="rId7" Type="http://schemas.openxmlformats.org/officeDocument/2006/relationships/image" Target="../media/image6.png"/><Relationship Id="rId8" Type="http://schemas.openxmlformats.org/officeDocument/2006/relationships/image" Target="../media/image1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Relationship Id="rId4" Type="http://schemas.openxmlformats.org/officeDocument/2006/relationships/image" Target="../media/image8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8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/>
          <p:nvPr/>
        </p:nvSpPr>
        <p:spPr>
          <a:xfrm>
            <a:off x="762000" y="4388048"/>
            <a:ext cx="609600" cy="38100"/>
          </a:xfrm>
          <a:prstGeom prst="roundRect">
            <a:avLst>
              <a:gd fmla="val 50000" name="adj"/>
            </a:avLst>
          </a:prstGeom>
          <a:solidFill>
            <a:srgbClr val="2563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85" name="Google Shape;85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2000" y="2436465"/>
            <a:ext cx="238125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3"/>
          <p:cNvSpPr txBox="1"/>
          <p:nvPr/>
        </p:nvSpPr>
        <p:spPr>
          <a:xfrm>
            <a:off x="762000" y="2631727"/>
            <a:ext cx="10626328" cy="613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200" u="none" cap="none" strike="noStrik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Introduction to the Web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762000" y="3435548"/>
            <a:ext cx="61912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Understanding web fundamentals, developer toolkits, and the art of learning how to learn.</a:t>
            </a:r>
            <a:endParaRPr/>
          </a:p>
        </p:txBody>
      </p:sp>
      <p:sp>
        <p:nvSpPr>
          <p:cNvPr id="88" name="Google Shape;88;p13"/>
          <p:cNvSpPr txBox="1"/>
          <p:nvPr/>
        </p:nvSpPr>
        <p:spPr>
          <a:xfrm>
            <a:off x="1114425" y="2431702"/>
            <a:ext cx="4393406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6B6D4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PROBLEM-SOLVING TECHNIQUES • PART 1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4"/>
          <p:cNvSpPr/>
          <p:nvPr/>
        </p:nvSpPr>
        <p:spPr>
          <a:xfrm>
            <a:off x="609600" y="2428875"/>
            <a:ext cx="5248275" cy="838200"/>
          </a:xfrm>
          <a:prstGeom prst="roundRect">
            <a:avLst>
              <a:gd fmla="val 13636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14"/>
          <p:cNvSpPr/>
          <p:nvPr/>
        </p:nvSpPr>
        <p:spPr>
          <a:xfrm>
            <a:off x="609600" y="3495675"/>
            <a:ext cx="5248275" cy="838200"/>
          </a:xfrm>
          <a:prstGeom prst="roundRect">
            <a:avLst>
              <a:gd fmla="val 13636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14"/>
          <p:cNvSpPr/>
          <p:nvPr/>
        </p:nvSpPr>
        <p:spPr>
          <a:xfrm>
            <a:off x="609600" y="4562475"/>
            <a:ext cx="5248275" cy="838200"/>
          </a:xfrm>
          <a:prstGeom prst="roundRect">
            <a:avLst>
              <a:gd fmla="val 13636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96" name="Google Shape;96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15075" y="2200275"/>
            <a:ext cx="5267325" cy="3429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7" name="Google Shape;97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24600" y="2209800"/>
            <a:ext cx="5248275" cy="34099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8" name="Google Shape;98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09625" y="2628900"/>
            <a:ext cx="419100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9" name="Google Shape;99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09625" y="3695700"/>
            <a:ext cx="419100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0" name="Google Shape;100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09625" y="4762500"/>
            <a:ext cx="419100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1" name="Google Shape;101;p1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23925" y="2743200"/>
            <a:ext cx="19050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2" name="Google Shape;102;p1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923925" y="3810000"/>
            <a:ext cx="19050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3" name="Google Shape;103;p14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900112" y="4876800"/>
            <a:ext cx="238125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14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2563E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ARCHITECTURE</a:t>
            </a:r>
            <a:endParaRPr/>
          </a:p>
        </p:txBody>
      </p:sp>
      <p:sp>
        <p:nvSpPr>
          <p:cNvPr id="105" name="Google Shape;105;p14"/>
          <p:cNvSpPr txBox="1"/>
          <p:nvPr/>
        </p:nvSpPr>
        <p:spPr>
          <a:xfrm>
            <a:off x="609600" y="704850"/>
            <a:ext cx="115824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How Does the Web Work?</a:t>
            </a:r>
            <a:endParaRPr/>
          </a:p>
        </p:txBody>
      </p:sp>
      <p:sp>
        <p:nvSpPr>
          <p:cNvPr id="106" name="Google Shape;106;p14"/>
          <p:cNvSpPr txBox="1"/>
          <p:nvPr/>
        </p:nvSpPr>
        <p:spPr>
          <a:xfrm>
            <a:off x="1419225" y="2628900"/>
            <a:ext cx="4525565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1. DNS Lookup</a:t>
            </a:r>
            <a:endParaRPr/>
          </a:p>
        </p:txBody>
      </p:sp>
      <p:sp>
        <p:nvSpPr>
          <p:cNvPr id="107" name="Google Shape;107;p14"/>
          <p:cNvSpPr txBox="1"/>
          <p:nvPr/>
        </p:nvSpPr>
        <p:spPr>
          <a:xfrm>
            <a:off x="1419225" y="2886075"/>
            <a:ext cx="4310062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Translates domain names into server IP addresses.</a:t>
            </a:r>
            <a:endParaRPr/>
          </a:p>
        </p:txBody>
      </p:sp>
      <p:sp>
        <p:nvSpPr>
          <p:cNvPr id="108" name="Google Shape;108;p14"/>
          <p:cNvSpPr txBox="1"/>
          <p:nvPr/>
        </p:nvSpPr>
        <p:spPr>
          <a:xfrm>
            <a:off x="1419225" y="3695700"/>
            <a:ext cx="3962995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2. HTTP Request</a:t>
            </a:r>
            <a:endParaRPr/>
          </a:p>
        </p:txBody>
      </p:sp>
      <p:sp>
        <p:nvSpPr>
          <p:cNvPr id="109" name="Google Shape;109;p14"/>
          <p:cNvSpPr txBox="1"/>
          <p:nvPr/>
        </p:nvSpPr>
        <p:spPr>
          <a:xfrm>
            <a:off x="1419225" y="3952875"/>
            <a:ext cx="3774281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Browser sends request to target web server.</a:t>
            </a:r>
            <a:endParaRPr/>
          </a:p>
        </p:txBody>
      </p:sp>
      <p:sp>
        <p:nvSpPr>
          <p:cNvPr id="110" name="Google Shape;110;p14"/>
          <p:cNvSpPr txBox="1"/>
          <p:nvPr/>
        </p:nvSpPr>
        <p:spPr>
          <a:xfrm>
            <a:off x="1419225" y="4762500"/>
            <a:ext cx="5000625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3. Server Response</a:t>
            </a:r>
            <a:endParaRPr/>
          </a:p>
        </p:txBody>
      </p:sp>
      <p:sp>
        <p:nvSpPr>
          <p:cNvPr id="111" name="Google Shape;111;p14"/>
          <p:cNvSpPr txBox="1"/>
          <p:nvPr/>
        </p:nvSpPr>
        <p:spPr>
          <a:xfrm>
            <a:off x="1419225" y="5019675"/>
            <a:ext cx="4762500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Server returns HTML, CSS, and JS assets for rendering.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5"/>
          <p:cNvSpPr/>
          <p:nvPr/>
        </p:nvSpPr>
        <p:spPr>
          <a:xfrm>
            <a:off x="609600" y="2757487"/>
            <a:ext cx="3505200" cy="2352675"/>
          </a:xfrm>
          <a:prstGeom prst="roundRect">
            <a:avLst>
              <a:gd fmla="val 6477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15"/>
          <p:cNvSpPr/>
          <p:nvPr/>
        </p:nvSpPr>
        <p:spPr>
          <a:xfrm>
            <a:off x="4343400" y="2871787"/>
            <a:ext cx="3505200" cy="2124075"/>
          </a:xfrm>
          <a:prstGeom prst="roundRect">
            <a:avLst>
              <a:gd fmla="val 7174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15"/>
          <p:cNvSpPr/>
          <p:nvPr/>
        </p:nvSpPr>
        <p:spPr>
          <a:xfrm>
            <a:off x="8077200" y="2871787"/>
            <a:ext cx="3505200" cy="2124075"/>
          </a:xfrm>
          <a:prstGeom prst="roundRect">
            <a:avLst>
              <a:gd fmla="val 7174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19" name="Google Shape;119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85825" y="3071812"/>
            <a:ext cx="495300" cy="4953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0" name="Google Shape;120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619625" y="3186112"/>
            <a:ext cx="495300" cy="4953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1" name="Google Shape;121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353425" y="3186112"/>
            <a:ext cx="495300" cy="4953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2" name="Google Shape;122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004887" y="3205162"/>
            <a:ext cx="257175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3" name="Google Shape;123;p1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752975" y="3319462"/>
            <a:ext cx="2286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4" name="Google Shape;124;p1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486775" y="3319462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p15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2563E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TOOLKIT &amp; SKILLS</a:t>
            </a:r>
            <a:endParaRPr/>
          </a:p>
        </p:txBody>
      </p:sp>
      <p:sp>
        <p:nvSpPr>
          <p:cNvPr id="126" name="Google Shape;126;p15"/>
          <p:cNvSpPr txBox="1"/>
          <p:nvPr/>
        </p:nvSpPr>
        <p:spPr>
          <a:xfrm>
            <a:off x="609600" y="704850"/>
            <a:ext cx="115824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What You Need to Be a Web Developer</a:t>
            </a:r>
            <a:endParaRPr/>
          </a:p>
        </p:txBody>
      </p:sp>
      <p:sp>
        <p:nvSpPr>
          <p:cNvPr id="127" name="Google Shape;127;p15"/>
          <p:cNvSpPr txBox="1"/>
          <p:nvPr/>
        </p:nvSpPr>
        <p:spPr>
          <a:xfrm>
            <a:off x="885825" y="3757612"/>
            <a:ext cx="3875484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Core Web Languages</a:t>
            </a:r>
            <a:endParaRPr/>
          </a:p>
        </p:txBody>
      </p:sp>
      <p:sp>
        <p:nvSpPr>
          <p:cNvPr id="128" name="Google Shape;128;p15"/>
          <p:cNvSpPr txBox="1"/>
          <p:nvPr/>
        </p:nvSpPr>
        <p:spPr>
          <a:xfrm>
            <a:off x="885825" y="4110037"/>
            <a:ext cx="30480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HTML for layout structure, CSS for styling, and JavaScript for client interactivity.</a:t>
            </a:r>
            <a:endParaRPr/>
          </a:p>
        </p:txBody>
      </p:sp>
      <p:sp>
        <p:nvSpPr>
          <p:cNvPr id="129" name="Google Shape;129;p15"/>
          <p:cNvSpPr txBox="1"/>
          <p:nvPr/>
        </p:nvSpPr>
        <p:spPr>
          <a:xfrm>
            <a:off x="4619625" y="3871912"/>
            <a:ext cx="3875484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Essential Tooling</a:t>
            </a:r>
            <a:endParaRPr/>
          </a:p>
        </p:txBody>
      </p:sp>
      <p:sp>
        <p:nvSpPr>
          <p:cNvPr id="130" name="Google Shape;130;p15"/>
          <p:cNvSpPr txBox="1"/>
          <p:nvPr/>
        </p:nvSpPr>
        <p:spPr>
          <a:xfrm>
            <a:off x="4619625" y="4224337"/>
            <a:ext cx="3048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Modern code editor like VS Code, Git version control, and Browser DevTools.</a:t>
            </a:r>
            <a:endParaRPr/>
          </a:p>
        </p:txBody>
      </p:sp>
      <p:sp>
        <p:nvSpPr>
          <p:cNvPr id="131" name="Google Shape;131;p15"/>
          <p:cNvSpPr txBox="1"/>
          <p:nvPr/>
        </p:nvSpPr>
        <p:spPr>
          <a:xfrm>
            <a:off x="8353425" y="3871912"/>
            <a:ext cx="3838575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Problem-Solving Mindset</a:t>
            </a:r>
            <a:endParaRPr/>
          </a:p>
        </p:txBody>
      </p:sp>
      <p:sp>
        <p:nvSpPr>
          <p:cNvPr id="132" name="Google Shape;132;p15"/>
          <p:cNvSpPr txBox="1"/>
          <p:nvPr/>
        </p:nvSpPr>
        <p:spPr>
          <a:xfrm>
            <a:off x="8353425" y="4224337"/>
            <a:ext cx="3048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Deconstructing complex issues into actionable, logic-driven steps.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16"/>
          <p:cNvSpPr/>
          <p:nvPr/>
        </p:nvSpPr>
        <p:spPr>
          <a:xfrm>
            <a:off x="609600" y="2719387"/>
            <a:ext cx="5295900" cy="2390775"/>
          </a:xfrm>
          <a:prstGeom prst="roundRect">
            <a:avLst>
              <a:gd fmla="val 6374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16"/>
          <p:cNvSpPr/>
          <p:nvPr/>
        </p:nvSpPr>
        <p:spPr>
          <a:xfrm>
            <a:off x="6286500" y="2814637"/>
            <a:ext cx="5295900" cy="2200275"/>
          </a:xfrm>
          <a:prstGeom prst="roundRect">
            <a:avLst>
              <a:gd fmla="val 6926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39" name="Google Shape;139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23925" y="3057525"/>
            <a:ext cx="19050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0" name="Google Shape;140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600825" y="3152775"/>
            <a:ext cx="190500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16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2563E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MOTIVATION &amp; META-SKILL</a:t>
            </a:r>
            <a:endParaRPr/>
          </a:p>
        </p:txBody>
      </p:sp>
      <p:sp>
        <p:nvSpPr>
          <p:cNvPr id="142" name="Google Shape;142;p16"/>
          <p:cNvSpPr txBox="1"/>
          <p:nvPr/>
        </p:nvSpPr>
        <p:spPr>
          <a:xfrm>
            <a:off x="609600" y="704850"/>
            <a:ext cx="115824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Why Web Development? Learning How to Learn</a:t>
            </a:r>
            <a:endParaRPr/>
          </a:p>
        </p:txBody>
      </p:sp>
      <p:sp>
        <p:nvSpPr>
          <p:cNvPr id="143" name="Google Shape;143;p16"/>
          <p:cNvSpPr txBox="1"/>
          <p:nvPr/>
        </p:nvSpPr>
        <p:spPr>
          <a:xfrm>
            <a:off x="1209675" y="3033712"/>
            <a:ext cx="5825728" cy="238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Why Choose Web Dev?</a:t>
            </a:r>
            <a:endParaRPr/>
          </a:p>
        </p:txBody>
      </p:sp>
      <p:sp>
        <p:nvSpPr>
          <p:cNvPr id="144" name="Google Shape;144;p16"/>
          <p:cNvSpPr txBox="1"/>
          <p:nvPr/>
        </p:nvSpPr>
        <p:spPr>
          <a:xfrm>
            <a:off x="6886575" y="3128962"/>
            <a:ext cx="5305425" cy="238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The Meta-Skill: "Learning to Learn"</a:t>
            </a:r>
            <a:endParaRPr/>
          </a:p>
        </p:txBody>
      </p:sp>
      <p:sp>
        <p:nvSpPr>
          <p:cNvPr id="145" name="Google Shape;145;p16"/>
          <p:cNvSpPr txBox="1"/>
          <p:nvPr/>
        </p:nvSpPr>
        <p:spPr>
          <a:xfrm>
            <a:off x="923925" y="3424237"/>
            <a:ext cx="47625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Immediate Impact:</a:t>
            </a:r>
            <a:r>
              <a:rPr b="0" i="0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Turn raw code into real visual interfaces quickly.</a:t>
            </a:r>
            <a:endParaRPr/>
          </a:p>
        </p:txBody>
      </p:sp>
      <p:sp>
        <p:nvSpPr>
          <p:cNvPr id="146" name="Google Shape;146;p16"/>
          <p:cNvSpPr txBox="1"/>
          <p:nvPr/>
        </p:nvSpPr>
        <p:spPr>
          <a:xfrm>
            <a:off x="923925" y="3919537"/>
            <a:ext cx="47625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Global Reach:</a:t>
            </a:r>
            <a:r>
              <a:rPr b="0" i="0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Deploy applications accessible to millions instantly.</a:t>
            </a:r>
            <a:endParaRPr/>
          </a:p>
        </p:txBody>
      </p:sp>
      <p:sp>
        <p:nvSpPr>
          <p:cNvPr id="147" name="Google Shape;147;p16"/>
          <p:cNvSpPr txBox="1"/>
          <p:nvPr/>
        </p:nvSpPr>
        <p:spPr>
          <a:xfrm>
            <a:off x="923925" y="4414837"/>
            <a:ext cx="47625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Creative Logic:</a:t>
            </a:r>
            <a:r>
              <a:rPr b="0" i="0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Bridge artistic interface design with technical algorithms.</a:t>
            </a:r>
            <a:endParaRPr/>
          </a:p>
        </p:txBody>
      </p:sp>
      <p:sp>
        <p:nvSpPr>
          <p:cNvPr id="148" name="Google Shape;148;p16"/>
          <p:cNvSpPr txBox="1"/>
          <p:nvPr/>
        </p:nvSpPr>
        <p:spPr>
          <a:xfrm>
            <a:off x="6600825" y="3519487"/>
            <a:ext cx="47625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Precise Research:</a:t>
            </a:r>
            <a:r>
              <a:rPr b="0" i="0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Master keyword searches and official documentation.</a:t>
            </a:r>
            <a:endParaRPr/>
          </a:p>
        </p:txBody>
      </p:sp>
      <p:sp>
        <p:nvSpPr>
          <p:cNvPr id="149" name="Google Shape;149;p16"/>
          <p:cNvSpPr txBox="1"/>
          <p:nvPr/>
        </p:nvSpPr>
        <p:spPr>
          <a:xfrm>
            <a:off x="6600825" y="4014787"/>
            <a:ext cx="5591175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Effective Inquiry:</a:t>
            </a:r>
            <a:r>
              <a:rPr b="0" i="0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Ask targeted technical questions on forums.</a:t>
            </a:r>
            <a:endParaRPr/>
          </a:p>
        </p:txBody>
      </p:sp>
      <p:sp>
        <p:nvSpPr>
          <p:cNvPr id="150" name="Google Shape;150;p16"/>
          <p:cNvSpPr txBox="1"/>
          <p:nvPr/>
        </p:nvSpPr>
        <p:spPr>
          <a:xfrm>
            <a:off x="6600825" y="4319587"/>
            <a:ext cx="47625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Continuous Growth:</a:t>
            </a:r>
            <a:r>
              <a:rPr b="0" i="0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Adapt smoothly as frameworks and tools evolve.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17"/>
          <p:cNvSpPr/>
          <p:nvPr/>
        </p:nvSpPr>
        <p:spPr>
          <a:xfrm>
            <a:off x="4943475" y="4671863"/>
            <a:ext cx="2305050" cy="428625"/>
          </a:xfrm>
          <a:prstGeom prst="roundRect">
            <a:avLst>
              <a:gd fmla="val 50000" name="adj"/>
            </a:avLst>
          </a:prstGeom>
          <a:solidFill>
            <a:srgbClr val="1E293B"/>
          </a:solidFill>
          <a:ln cap="flat" cmpd="sng" w="9525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56" name="Google Shape;156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181600" y="4809976"/>
            <a:ext cx="152400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p17"/>
          <p:cNvSpPr txBox="1"/>
          <p:nvPr/>
        </p:nvSpPr>
        <p:spPr>
          <a:xfrm>
            <a:off x="5322093" y="1757362"/>
            <a:ext cx="1547812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6B6D4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CORE TAKEAWAY</a:t>
            </a:r>
            <a:endParaRPr/>
          </a:p>
        </p:txBody>
      </p:sp>
      <p:sp>
        <p:nvSpPr>
          <p:cNvPr id="158" name="Google Shape;158;p17"/>
          <p:cNvSpPr txBox="1"/>
          <p:nvPr/>
        </p:nvSpPr>
        <p:spPr>
          <a:xfrm>
            <a:off x="1095375" y="2081212"/>
            <a:ext cx="10001250" cy="1508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99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Web development is not about knowing every answer—it is about knowing how to find them.</a:t>
            </a:r>
            <a:endParaRPr/>
          </a:p>
        </p:txBody>
      </p:sp>
      <p:sp>
        <p:nvSpPr>
          <p:cNvPr id="159" name="Google Shape;159;p17"/>
          <p:cNvSpPr txBox="1"/>
          <p:nvPr/>
        </p:nvSpPr>
        <p:spPr>
          <a:xfrm>
            <a:off x="2524125" y="3818483"/>
            <a:ext cx="7143750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Mastering research, precise questioning, and structured problem-solving opens the door to building anything on the web.</a:t>
            </a:r>
            <a:endParaRPr/>
          </a:p>
        </p:txBody>
      </p:sp>
      <p:sp>
        <p:nvSpPr>
          <p:cNvPr id="160" name="Google Shape;160;p17"/>
          <p:cNvSpPr txBox="1"/>
          <p:nvPr/>
        </p:nvSpPr>
        <p:spPr>
          <a:xfrm>
            <a:off x="5253037" y="4795688"/>
            <a:ext cx="1952625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rPr>
              <a:t>Checkpoint Completed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65" name="Google Shape;165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1023937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18"/>
          <p:cNvSpPr txBox="1"/>
          <p:nvPr/>
        </p:nvSpPr>
        <p:spPr>
          <a:xfrm>
            <a:off x="571500" y="571500"/>
            <a:ext cx="2175271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Image Sources</a:t>
            </a:r>
            <a:endParaRPr/>
          </a:p>
        </p:txBody>
      </p:sp>
      <p:sp>
        <p:nvSpPr>
          <p:cNvPr id="167" name="Google Shape;167;p18"/>
          <p:cNvSpPr txBox="1"/>
          <p:nvPr/>
        </p:nvSpPr>
        <p:spPr>
          <a:xfrm>
            <a:off x="1666875" y="990600"/>
            <a:ext cx="100488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https://substackcdn.com/image/fetch/$s_!IzcV!,f_auto,q_auto:good,fl_progressive:steep/https%3A%2F%2Fsubstack-post-media.s3.amazonaws.com%2Fpublic%2Fimages%2F1ebc22e1-fe0b-4751-89a1-e0c6c62826be_1774x887.png</a:t>
            </a:r>
            <a:endParaRPr/>
          </a:p>
        </p:txBody>
      </p:sp>
      <p:sp>
        <p:nvSpPr>
          <p:cNvPr id="168" name="Google Shape;168;p18"/>
          <p:cNvSpPr txBox="1"/>
          <p:nvPr/>
        </p:nvSpPr>
        <p:spPr>
          <a:xfrm>
            <a:off x="1666875" y="1343025"/>
            <a:ext cx="3155156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Source: designgurus.substack.com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